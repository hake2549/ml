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สวัสดีครับ/ค่ะ กลุ่มเรานำเสนอโครงงานทำนายการยกเลิกการจองโรงแรม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เน้นว่าเป็นปัญหาที่วัดมูลค่าทางธุรกิจได้ ไม่ใช่แค่โจทย์ในห้องเรียน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ปูทางไปหน้า 11 เรื่องการเลือก metric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พูดแค่ 2 จุดที่สะดุดตาที่สุด ไม่ต้องไล่ทุกกราฟ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ย้ำว่าเลือกวิธีจัดการจากความหมายของข้อมูล ไม่ได้เติมค่ามั่ว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หน้านี้คืออันที่อาจารย์ชอบถาม ให้เน้นหลักฐาน 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เน้นว่าทุก feature มีเหตุผลรองรับก่อนสร้าง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ถ้าโดนถามเรื่อง overfitting ให้เปิดสไลด์สำรองหน้าสุดท้าย (Spearman 0.985)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ถ้าโดนถามว่าทำไม C ไม่ดีกว่า B ให้ตอบเรื่อง std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ชี้ให้เห็นว่า Dummy ได้ F1 = 0 ทั้งที่ Accuracy สูง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ผูก metric เข้ากับต้นทุนธุรกิจจริง ไม่ใช่เลือกเพราะเห็นคนอื่นใช้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อย่ากลัวที่จะบอกว่า F1 ไม่ขึ้น อธิบายด้วยช่องว่าง train-CV แทน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threshold 0.46 หามาจาก out-of-fold predictions บน train ไม่ได้แตะ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หน้านี้คือหน้าที่ทำให้งานดูลึกกว่ากลุ่มอื่น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ถ้าเน็ตในห้องใช้ได้ ให้เปิดเว็บจริงสาธิต 1 เคส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ปิดด้วยสิ่งที่ได้เรียนรู้ ไม่ใช่แค่ตัวเลข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เปิดสไลด์สำรองจากไฟล์แยกในโฟลเดอร์ outputs/figures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โครงงานรายวิชา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778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Hotel Booking
Cancellation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C7D2DE"/>
                </a:solidFill>
                <a:latin typeface="Tahoma"/>
                <a:ea typeface="Tahoma"/>
                <a:cs typeface="Tahoma"/>
              </a:rPr>
              <a:t>ทำนายความเสี่ยงที่การจองโรงแรมจะถูกยกเลิก ด้วยข้อมูลการจองจริง 119,208 รายการ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E4EAF1"/>
                </a:solidFill>
                <a:latin typeface="Tahoma"/>
                <a:ea typeface="Tahoma"/>
                <a:cs typeface="Tahoma"/>
              </a:rPr>
              <a:t>นายชัยพร ศรีพราย  66114540168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E4EAF1"/>
                </a:solidFill>
                <a:latin typeface="Tahoma"/>
                <a:ea typeface="Tahoma"/>
                <a:cs typeface="Tahoma"/>
              </a:rPr>
              <a:t>นางสาวกวิณชฎา มีศรี  67114540015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E4EAF1"/>
                </a:solidFill>
                <a:latin typeface="Tahoma"/>
                <a:ea typeface="Tahoma"/>
                <a:cs typeface="Tahoma"/>
              </a:rPr>
              <a:t>นายธนากร ไชยรัตน์  67114540244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48056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E4EAF1"/>
                </a:solidFill>
                <a:latin typeface="Tahoma"/>
                <a:ea typeface="Tahoma"/>
                <a:cs typeface="Tahoma"/>
              </a:rPr>
              <a:t>นายรัชชานนท์ รื่นจิตต์  67114540446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E4EAF1"/>
                </a:solidFill>
                <a:latin typeface="Tahoma"/>
                <a:ea typeface="Tahoma"/>
                <a:cs typeface="Tahoma"/>
              </a:rPr>
              <a:t>นายราชภัฏ บุญรอด  67114540455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8288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82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8048" y="1938528"/>
            <a:ext cx="1975104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2852928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features ที่ใช้เทรน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338328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82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3493008"/>
            <a:ext cx="1975104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0.847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4407408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F1-score บนชุดทดสอบ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ยกเลิก 37% คือรายได้ที่หายและพยากรณ์ห้องที่ผิดพลาด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5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ยกเลิกกระชั้นชิด → ขายห้องต่อไม่ทัน → รายได้หายทันที</a:t>
            </a:r>
          </a:p>
          <a:p>
            <a:pPr algn="l" marL="201168" indent="-201168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5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โรงแรมต้องทำ Overbooking ชดเชย ซึ่งถ้าประเมินผิดจะเสียทั้งเงินและชื่อเสียง</a:t>
            </a:r>
          </a:p>
          <a:p>
            <a:pPr algn="l" marL="201168" indent="-201168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5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Input = </a:t>
            </a:r>
            <a:r>
              <a:rPr sz="15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ข้อมูลการจอง ณ วันที่จอง  →  </a:t>
            </a:r>
            <a:r>
              <a:rPr sz="15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Output = </a:t>
            </a:r>
            <a:r>
              <a:rPr sz="15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ยกเลิก (1) / ไม่ยกเลิก (0)</a:t>
            </a:r>
          </a:p>
          <a:p>
            <a:pPr algn="l" marL="201168" indent="-201168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5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ขอบเขต: โรงแรม 2 แห่งในโปรตุเกส ก.ค. 2015 – ส.ค. 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08760"/>
            <a:ext cx="3840480" cy="2286000"/>
          </a:xfrm>
          <a:prstGeom prst="roundRect">
            <a:avLst>
              <a:gd name="adj" fmla="val 6000"/>
            </a:avLst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37%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971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ของการจองทั้งหมดถูกยกเลิก
(44,224 จาก 119,390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ปัญหานี้เป็น Binary Classification ที่มีมูลค่าทางธุรกิจวัดได้จริง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ทายว่า "ไม่ยกเลิก" ทุกรายการ ก็ได้ Accuracy 62.9% แล้ว</a:t>
            </a:r>
          </a:p>
        </p:txBody>
      </p:sp>
      <p:pic>
        <p:nvPicPr>
          <p:cNvPr id="6" name="Picture 5" descr="3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37414"/>
            <a:ext cx="4663440" cy="3674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002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5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ข้อมูลดิบ 119,390 แถว × 32 คอลัมน์</a:t>
            </a:r>
          </a:p>
          <a:p>
            <a:pPr algn="l" marL="201168" indent="-201168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5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ยกเลิก 44,224 รายการ : ไม่ยกเลิก 75,166 รายการ</a:t>
            </a:r>
          </a:p>
          <a:p>
            <a:pPr algn="l" marL="201168" indent="-201168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5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สัดส่วนคลาสไม่สมดุล 37 : 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6035040" cy="13716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ประโยคสำคัญ: 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“นี่คือเหตุผลที่เราไม่ใช้ Accuracy เป็นตัวชี้วัดหลัก </a:t>
            </a:r>
            <a:r>
              <a:rPr sz="14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เพราะโมเดลที่ไม่ได้เรียนรู้อะไรเลยก็ทำคะแนนนี้ได้”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ประเภทมัดจำและช่องทางการจองต่างกันอย่างชัดเจน</a:t>
            </a:r>
          </a:p>
        </p:txBody>
      </p:sp>
      <p:pic>
        <p:nvPicPr>
          <p:cNvPr id="6" name="Picture 5" descr="3_eda_cancel_rate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596754"/>
            <a:ext cx="7680960" cy="4304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00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4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Non Refund </a:t>
            </a:r>
            <a:r>
              <a:rPr sz="14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ยกเลิกเกือบ 100% ทั้งที่จ่ายเงินไปแล้ว</a:t>
            </a:r>
          </a:p>
          <a:p>
            <a:pPr algn="l" marL="201168" indent="-201168"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4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Groups </a:t>
            </a:r>
            <a:r>
              <a:rPr sz="14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ยกเลิกสูงกว่าการจองแบบอื่นชัดเจน</a:t>
            </a:r>
          </a:p>
          <a:p>
            <a:pPr algn="l" marL="201168" indent="-201168"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4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เส้นประแดง = อัตรายกเลิกเฉลี่ยทั้งชุดข้อมูล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ทุกกราฟคำนวณจากข้อมูลจริงทั้ง 119,390 แถว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ทำความสะอาดข้อมูลโดยเสียข้อมูลเพียง 0.15%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7315200" cy="566928"/>
          </a:xfrm>
          <a:prstGeom prst="rect">
            <a:avLst/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ปัญหาที่พบ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7328" y="1627632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วิธีจัดการ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3408" y="1627632"/>
            <a:ext cx="1060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แถวที่เสีย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children ว่าง 4 ค่า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194560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เติมด้วย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194560"/>
            <a:ext cx="1060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88336"/>
            <a:ext cx="731520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country ว่าง 488 ค่า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761488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แทนด้วย 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761488"/>
            <a:ext cx="1060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28416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agent / company ว่าง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328416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แปลงเป็น flag มี/ไม่มี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3328416"/>
            <a:ext cx="1060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22192"/>
            <a:ext cx="731520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895344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ไม่มีผู้เข้าพัก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3895344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ลบแถวทิ้ง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3895344"/>
            <a:ext cx="1060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180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462272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adr ติดลบ / เกิน 1,000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4462272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ลบแถวทิ้ง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4462272"/>
            <a:ext cx="1060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572768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1682496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119,390 → 119,208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2688336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จำนวนแถวก่อน → หลังคลีน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200400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3310128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182 แถว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4315968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ลบทิ้งทั้งหมด คิดเป็น 0.15%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920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อัตรายกเลิกหลังคลีน 37.08%
แทบไม่ต่างจาก 37.04% ก่อนคลีน
→ การลบแถวไม่ทำให้สัดส่วนคลาสบิดเบือน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3036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ค่าว่างใน agent / company ตามเปเปอร์ต้นฉบับแปลว่า “ไม่เกี่ยวข้อง” ไม่ใช่ข้อมูลหาย จึงทำเป็น flag แทนการเติมค่า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DATA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ตัด 3 คอลัมน์ที่แอบรู้คำตอบ ก่อนแบ่งข้อมูล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577840" cy="2286000"/>
          </a:xfrm>
          <a:prstGeom prst="roundRect">
            <a:avLst>
              <a:gd name="adj" fmla="val 6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33A3A"/>
                </a:solidFill>
                <a:latin typeface="Tahoma"/>
                <a:ea typeface="Tahoma"/>
                <a:cs typeface="Tahoma"/>
              </a:rPr>
              <a:t>คอลัมน์ที่ตัดออก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reservation_status — บอกผลลัพธ์ตรงๆ</a:t>
            </a:r>
          </a:p>
          <a:p>
            <a:pPr algn="l" marL="201168" indent="-201168"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reservation_status_date — วันที่ผลลัพธ์เกิดขึ้น</a:t>
            </a:r>
          </a:p>
          <a:p>
            <a:pPr algn="l" marL="201168" indent="-201168"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assigned_room_type — ห้องถูกกำหนดตอนเช็คอิน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B33A3A"/>
                </a:solidFill>
                <a:latin typeface="Tahoma"/>
                <a:ea typeface="Tahoma"/>
                <a:cs typeface="Tahoma"/>
              </a:rPr>
              <a:t>หลักฐาน: </a:t>
            </a: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การจองที่ถูกเปลี่ยนห้องมีอัตรายกเลิก 0% → รู้ผลหลังเช็คอินแล้ว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แบ่งข้อมูล 2 แบบ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874519"/>
            <a:ext cx="5120640" cy="384048"/>
          </a:xfrm>
          <a:prstGeom prst="rect">
            <a:avLst/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947671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วิธีแบ่ง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1947671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3888" y="1947671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331719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Stratified Random 80/20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2331719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95,366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3888" y="2331719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23,842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642615"/>
            <a:ext cx="5120640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715767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Time-based (ตามเวลา)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715767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95,190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33888" y="2715767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24,018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0040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Time split: train มีอัตรายกเลิก 36.09% แต่ test มี 40.99%
→ พฤติกรรมเปลี่ยนตามเวลาจริง (ดูหน้า 14)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encoding · scaling · feature selection ทั้งหมดอยู่ใน Pipeline จึงเรียนรู้จาก train ของแต่ละ fold เท่านั้น — Test set ถูกเปิดใช้ครั้งเดียวตอนท้าย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สร้าง 9 features ใหม่ — ทุกตัวมีสมมติฐานรองรับ</a:t>
            </a:r>
          </a:p>
        </p:txBody>
      </p:sp>
      <p:pic>
        <p:nvPicPr>
          <p:cNvPr id="6" name="Picture 5" descr="5_engineered_features_cancel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78" y="1417320"/>
            <a:ext cx="5867724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4630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ช่วงห่างของอัตรายกเลิกระหว่างกลุ่ม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3931920" cy="384048"/>
          </a:xfrm>
          <a:prstGeom prst="rect">
            <a:avLst/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1901952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Feature ใหม่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33888" y="1901952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ช่วงห่าง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212848"/>
            <a:ext cx="3931920" cy="384048"/>
          </a:xfrm>
          <a:prstGeom prst="rect">
            <a:avLst/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228600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cancel_history_ratio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2286000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81.6%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596896"/>
            <a:ext cx="3931920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2670048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lead_time_group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33888" y="2670048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58.1%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054096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total_nights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33888" y="3054096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52.8%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3364992"/>
            <a:ext cx="3931920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3438144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is_domestic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33888" y="3438144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33.1%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977639"/>
            <a:ext cx="3931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ยิ่งช่วงห่างกว้าง feature ยิ่งแยกกลุ่มคนที่จะยกเลิกออกจากคนที่ไม่ยกเลิกได้ดี
ตั้งสมมติฐานก่อน แล้วค่อยพิสูจน์ด้วยกราฟ ไม่ได้สร้างมั่วแล้วลองดู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FEATURE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37 features → 18 features ด้วยการโหวต 2 ใน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Mutual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Filter — สถิติล้วน</a:t>
            </a:r>
          </a:p>
        </p:txBody>
      </p:sp>
      <p:pic>
        <p:nvPicPr>
          <p:cNvPr id="8" name="Picture 7" descr="5_mutual_information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20915"/>
            <a:ext cx="3566160" cy="2416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07408" y="137160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RF Importance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162763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Embedded — จากตัวโมเดล</a:t>
            </a:r>
          </a:p>
        </p:txBody>
      </p:sp>
      <p:pic>
        <p:nvPicPr>
          <p:cNvPr id="11" name="Picture 10" descr="5_random_forest_importance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220915"/>
            <a:ext cx="3566160" cy="24161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6" y="137160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Permutation Importance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162763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Model-agnostic — วัดบน validation</a:t>
            </a:r>
          </a:p>
        </p:txBody>
      </p:sp>
      <p:pic>
        <p:nvPicPr>
          <p:cNvPr id="14" name="Picture 13" descr="5_permutation_importance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2220915"/>
            <a:ext cx="3566160" cy="241617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516636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276088"/>
            <a:ext cx="215798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14 ตัว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70448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ได้ครบ 3 โหวต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516636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8" y="5276088"/>
            <a:ext cx="215798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4 ตัว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5870448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ได้ 2 โหวต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516636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5276088"/>
            <a:ext cx="215798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18 ตัว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5870448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เก็บไว้ใช้เทรน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212080"/>
            <a:ext cx="3429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RF Importance มีอคติเข้าข้างตัวแปรที่มีค่าหลากหลาย จึงใช้ Permutation Importance ที่วัดบน validation set เป็นตัวถ่วง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ก่อน – หลังคัดเลือก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ใช้ feature น้อยลงครึ่งหนึ่ง แต่ผลเท่าเดิมและเทรนเร็วขึ้น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6766560" cy="420624"/>
          </a:xfrm>
          <a:prstGeom prst="rect">
            <a:avLst/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241686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ชุด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4690" y="1627632"/>
            <a:ext cx="7471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จำนวน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1341" y="1627632"/>
            <a:ext cx="171384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F1 (CV)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4643" y="1627632"/>
            <a:ext cx="10108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48256"/>
            <a:ext cx="241686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A: ตัวแปรเดิม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4690" y="2048256"/>
            <a:ext cx="7471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341" y="2048256"/>
            <a:ext cx="171384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0.8103 ± 0.0049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4643" y="2048256"/>
            <a:ext cx="10108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0.9420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95728"/>
            <a:ext cx="6766560" cy="42062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68880"/>
            <a:ext cx="241686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B: เดิม + ที่สร้างใหม่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4690" y="2468880"/>
            <a:ext cx="7471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341" y="2468880"/>
            <a:ext cx="171384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0.8127 ± 0.0042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4643" y="2468880"/>
            <a:ext cx="10108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0.9428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16352"/>
            <a:ext cx="6766560" cy="420624"/>
          </a:xfrm>
          <a:prstGeom prst="rect">
            <a:avLst/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89504"/>
            <a:ext cx="241686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C: คัดเลือกแล้ว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4690" y="2889504"/>
            <a:ext cx="7471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341" y="2889504"/>
            <a:ext cx="171384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0.8112 ± 0.0027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4643" y="2889504"/>
            <a:ext cx="10108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0.9417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20440"/>
            <a:ext cx="6766560" cy="13716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03320"/>
            <a:ext cx="6217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ผลต่างระหว่าง B กับ C = 0.0015 </a:t>
            </a:r>
            <a:r>
              <a:rPr sz="14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ซึ่งน้อยกว่าค่า std (0.0042)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→ ถือว่าไม่ต่างกันอย่างมีนัยสำคัญ แต่ C มีความแปรปรวนต่ำที่สุดและเทรนเร็วที่สุด จึงเลือก C</a:t>
            </a:r>
          </a:p>
        </p:txBody>
      </p:sp>
      <p:pic>
        <p:nvPicPr>
          <p:cNvPr id="27" name="Picture 26" descr="5_performance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010029"/>
            <a:ext cx="4023360" cy="219786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89520" y="480060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กราฟตอบคำถาม “ทำไมเลือก K = 18” — เพิ่ม feature เกินจุดนี้แล้วคะแนนไม่ขึ้นอีก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MODEL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Random Forest นำตั้งแต่ก่อน Tuning (F1 = 0.842)</a:t>
            </a:r>
          </a:p>
        </p:txBody>
      </p:sp>
      <p:pic>
        <p:nvPicPr>
          <p:cNvPr id="6" name="Picture 5" descr="6_default_model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50812"/>
            <a:ext cx="5303520" cy="23162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554480"/>
            <a:ext cx="5486400" cy="384048"/>
          </a:xfrm>
          <a:prstGeom prst="rect">
            <a:avLst/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22988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โมเดล (ค่า 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6715" y="1627632"/>
            <a:ext cx="103971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F1 (CV)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5888" y="1627632"/>
            <a:ext cx="148942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ช่องว่าง Train–CV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11680"/>
            <a:ext cx="22988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Dummy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6715" y="2011680"/>
            <a:ext cx="103971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5888" y="2011680"/>
            <a:ext cx="148942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5486400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95728"/>
            <a:ext cx="22988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6715" y="2395728"/>
            <a:ext cx="103971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0.763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5888" y="2395728"/>
            <a:ext cx="148942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79776"/>
            <a:ext cx="22988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Decision 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6715" y="2779776"/>
            <a:ext cx="103971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0.791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5888" y="2779776"/>
            <a:ext cx="148942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0.203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90672"/>
            <a:ext cx="5486400" cy="384048"/>
          </a:xfrm>
          <a:prstGeom prst="rect">
            <a:avLst/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163824"/>
            <a:ext cx="22988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6715" y="3163824"/>
            <a:ext cx="103971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0.842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5888" y="3163824"/>
            <a:ext cx="148942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0.152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547872"/>
            <a:ext cx="22988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HistGradientBoosting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6715" y="3547872"/>
            <a:ext cx="103971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0.811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5888" y="3547872"/>
            <a:ext cx="148942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0.011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97680"/>
            <a:ext cx="5486400" cy="1188720"/>
          </a:xfrm>
          <a:prstGeom prst="roundRect">
            <a:avLst>
              <a:gd name="adj" fmla="val 6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805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B33A3A"/>
                </a:solidFill>
                <a:latin typeface="Tahoma"/>
                <a:ea typeface="Tahoma"/>
                <a:cs typeface="Tahoma"/>
              </a:rPr>
              <a:t>Decision Tree overfit ชัดเจน </a:t>
            </a: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— ช่องว่าง train–CV ถึง 0.203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Random Forest แก้ปัญหานี้ด้วยการรวมหลายต้นเข้าด้วยกัน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ทุกโมเดลใช้ Stratified 5-Fold Cross-Validation บน train set เดียวกัน และใช้ Pipeline ชุดเดียวกัน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Accuracy หลอกตา — Dummy ได้ 62.9% แต่ F1 =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B33A3A"/>
                </a:solidFill>
                <a:latin typeface="Tahoma"/>
                <a:ea typeface="Tahoma"/>
                <a:cs typeface="Tahoma"/>
              </a:rPr>
              <a:t>False Negative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ทำนายว่าไม่ยกเลิก → แต่ยกเลิกจริง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ห้องว่าง ขายต่อไม่ทัน = รายได้หาย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B33A3A"/>
                </a:solidFill>
                <a:latin typeface="Tahoma"/>
                <a:ea typeface="Tahoma"/>
                <a:cs typeface="Tahoma"/>
              </a:rPr>
              <a:t>False Positive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ทำนายว่ายกเลิก → แต่ลูกค้ามาจริง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ถ้าเผื่อ Overbooking ไว้ = ห้องไม่พอ เสียชื่อเสียง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ทั้งสองแบบมีต้นทุนสูงพอกัน จึงเลือก F1-score เป็นตัวชี้วัดหลัก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767328"/>
            <a:ext cx="2432304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F1-score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91032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ตัวชี้วัดหลัก — สมดุล Precision กับ Recall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65760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3767328"/>
            <a:ext cx="2432304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491032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ความสามารถแยกคลาสโดยไม่ขึ้นกับ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5760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767328"/>
            <a:ext cx="2432304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PR-AUC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491032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เหมาะกับข้อมูลไม่สมดุลมากกว่า ROC-AUC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65760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3767328"/>
            <a:ext cx="2432304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Confusion
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491032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เห็นจำนวน error แต่ละแบบจริง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Baseline: Dummy Classifier ทายคลาสที่พบบ่อยที่สุดเสมอ ได้ Accuracy 62.9% แต่ F1 = 0 คือจับคนที่จะยกเลิกไม่ได้เลยแม้แต่รายเดียว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HYPERPARAMETER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Tuning ช่วยลด Overfitting มากกว่าจะเพิ่มคะแนน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6583680" cy="420624"/>
          </a:xfrm>
          <a:prstGeom prst="rect">
            <a:avLst/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2093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โมเดล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552" y="1627632"/>
            <a:ext cx="937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F1 ก่อน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8144" y="1627632"/>
            <a:ext cx="937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F1 หลัง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4736" y="1627632"/>
            <a:ext cx="173785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ช่องว่าง Train–CV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48256"/>
            <a:ext cx="2093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552" y="2048256"/>
            <a:ext cx="937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0.7629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8144" y="2048256"/>
            <a:ext cx="937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0.7784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4736" y="2048256"/>
            <a:ext cx="173785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0.001 → 0.002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95728"/>
            <a:ext cx="6583680" cy="420624"/>
          </a:xfrm>
          <a:prstGeom prst="rect">
            <a:avLst/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68880"/>
            <a:ext cx="2093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552" y="2468880"/>
            <a:ext cx="937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0.8422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8144" y="2468880"/>
            <a:ext cx="937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0.8419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4736" y="2468880"/>
            <a:ext cx="173785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0.152 → 0.122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889504"/>
            <a:ext cx="2093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HistGradientBoosting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552" y="2889504"/>
            <a:ext cx="937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0.8112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28144" y="2889504"/>
            <a:ext cx="937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0.8344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4736" y="2889504"/>
            <a:ext cx="173785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0.011 → 0.062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337560"/>
            <a:ext cx="6583680" cy="132588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520440"/>
            <a:ext cx="6035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F1 ของ Random Forest แทบไม่ขึ้นเลย </a:t>
            </a:r>
            <a:r>
              <a:rPr sz="14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แต่ช่องว่าง train–CV แคบลงจาก 0.152 เหลือ 0.122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→ โมเดลจำข้อมูลน้อยลงและมีเสถียรภาพมากขึ้น จึงถือว่า tuning ได้ผล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ค่าที่เลือกใช้: 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n_estimators=300 · max_depth=30 · min_samples_leaf=2 · max_features=log2 · class_weight=balanced_subsample</a:t>
            </a:r>
          </a:p>
        </p:txBody>
      </p:sp>
      <p:pic>
        <p:nvPicPr>
          <p:cNvPr id="27" name="Picture 26" descr="7_validation_curve_rf_max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60077"/>
            <a:ext cx="4206240" cy="229776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06640" y="480060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Validation Curve: เส้น train พุ่งขึ้นแต่ validation นิ่ง = สัญญาณ overfitting ใช้เลือกค่า max_depth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ผลบนชุดทดสอบ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ปรับ threshold เป็น 0.46 เพิ่ม Recall ได้ 2.6 จุด</a:t>
            </a:r>
          </a:p>
        </p:txBody>
      </p:sp>
      <p:pic>
        <p:nvPicPr>
          <p:cNvPr id="6" name="Picture 5" descr="7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3699"/>
            <a:ext cx="4206240" cy="37306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600200"/>
            <a:ext cx="2057400" cy="12801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1709928"/>
            <a:ext cx="183794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0.8469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32888"/>
            <a:ext cx="1837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F1-score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00200"/>
            <a:ext cx="2057400" cy="12801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8" y="1709928"/>
            <a:ext cx="183794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0.8351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8" y="2532888"/>
            <a:ext cx="1837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600200"/>
            <a:ext cx="2057400" cy="12801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8" y="1709928"/>
            <a:ext cx="183794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0.8590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9488" y="2532888"/>
            <a:ext cx="1837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017520"/>
            <a:ext cx="2057400" cy="12801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3127248"/>
            <a:ext cx="183794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0.9567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3950208"/>
            <a:ext cx="1837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ROC-AUC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017520"/>
            <a:ext cx="2057400" cy="12801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3127248"/>
            <a:ext cx="183794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0.9367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8" y="3950208"/>
            <a:ext cx="1837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PR-AUC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3017520"/>
            <a:ext cx="2057400" cy="12801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8" y="3127248"/>
            <a:ext cx="183794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0.8849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3950208"/>
            <a:ext cx="1837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Accuracy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4480560"/>
            <a:ext cx="6492240" cy="1234440"/>
          </a:xfrm>
          <a:prstGeom prst="roundRect">
            <a:avLst>
              <a:gd name="adj" fmla="val 6000"/>
            </a:avLst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466344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Test set 23,842 แถว ถูกใช้เพียงครั้งเดียวตอนท้าย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C7D2DE"/>
                </a:solidFill>
                <a:latin typeface="Tahoma"/>
                <a:ea typeface="Tahoma"/>
                <a:cs typeface="Tahoma"/>
              </a:rPr>
              <a:t>การเลือก feature · เลือกโมเดล · tuning · หา threshold ทั้งหมดใช้ Cross-Validation บน train เท่านั้น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จุดค้นพบสำคัญ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ถ้าทดสอบแบบทำนายอนาคตจริง F1 ตกจาก 0.847 เหลือ 0.725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6949440" cy="457200"/>
          </a:xfrm>
          <a:prstGeom prst="rect">
            <a:avLst/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30172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วิธีแบ่งข้อมูล (threshold 0.46)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5093" y="1673352"/>
            <a:ext cx="92291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7466" y="1673352"/>
            <a:ext cx="11133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235" y="1673352"/>
            <a:ext cx="10181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30552"/>
            <a:ext cx="30172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Random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093" y="2130552"/>
            <a:ext cx="92291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0.8469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7466" y="2130552"/>
            <a:ext cx="11133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0.8351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235" y="2130552"/>
            <a:ext cx="10181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0.8590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14600"/>
            <a:ext cx="6949440" cy="457200"/>
          </a:xfrm>
          <a:prstGeom prst="rect">
            <a:avLst/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87752"/>
            <a:ext cx="30172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Time-based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093" y="2587752"/>
            <a:ext cx="92291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0.7249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7466" y="2587752"/>
            <a:ext cx="11133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0.7996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235" y="2587752"/>
            <a:ext cx="10181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0.6630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00400"/>
            <a:ext cx="6949440" cy="1463040"/>
          </a:xfrm>
          <a:prstGeom prst="roundRect">
            <a:avLst>
              <a:gd name="adj" fmla="val 6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01568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B33A3A"/>
                </a:solidFill>
                <a:latin typeface="Tahoma"/>
                <a:ea typeface="Tahoma"/>
                <a:cs typeface="Tahoma"/>
              </a:rPr>
              <a:t>สาเหตุ: </a:t>
            </a:r>
            <a:r>
              <a:rPr sz="14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ชุด test ที่แบ่งตามเวลามีอัตรายกเลิก 40.99% ขณะที่ train มี 36.09%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พฤติกรรมลูกค้าเปลี่ยนไปตามเวลาจริง (distribution shift)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1600200"/>
            <a:ext cx="3657600" cy="1737360"/>
          </a:xfrm>
          <a:prstGeom prst="roundRect">
            <a:avLst>
              <a:gd name="adj" fmla="val 6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7" y="1709928"/>
            <a:ext cx="3438144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B33A3A"/>
                </a:solidFill>
                <a:latin typeface="Tahoma"/>
                <a:ea typeface="Tahoma"/>
                <a:cs typeface="Tahoma"/>
              </a:rPr>
              <a:t>−0.122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7" y="2990088"/>
            <a:ext cx="3438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F1 ที่หายไปเมื่อทดสอบตามเวลา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56616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“การสุ่มแบ่งข้อมูลประเมินโมเดลสูงเกินจริง เราจึงรายงานตัวเลขทั้งสองแบบ”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ในการใช้งานจริง โมเดลต้องทำนายอนาคตจากข้อมูลอดีต จึงควร retrain เป็นระยะ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กรอกข้อมูลการจอง → ได้ความเสี่ยงทันที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เว็บแอป Streamlit — ผู้ใช้กรอกรายละเอียดการจอง ระบบคำนวณ 18 features แล้วแสดงความน่าจะเป็นที่จะยกเลิก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B33A3A"/>
                </a:solidFill>
                <a:latin typeface="Tahoma"/>
                <a:ea typeface="Tahoma"/>
                <a:cs typeface="Tahoma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B33A3A"/>
                </a:solidFill>
                <a:latin typeface="Tahoma"/>
                <a:ea typeface="Tahoma"/>
                <a:cs typeface="Tahoma"/>
              </a:rPr>
              <a:t>เสี่ยงสูง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จองล่วงหน้า 300 วัน
Non Refund +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01168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224028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33.3%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30632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เสี่ยงปานกลาง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4747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จองล่วงหน้า 60 วัน
Online 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201168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8" y="224028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1E7A5E"/>
                </a:solidFill>
                <a:latin typeface="Tahoma"/>
                <a:ea typeface="Tahoma"/>
                <a:cs typeface="Tahoma"/>
              </a:rPr>
              <a:t>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8" y="30632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7A5E"/>
                </a:solidFill>
                <a:latin typeface="Tahoma"/>
                <a:ea typeface="Tahoma"/>
                <a:cs typeface="Tahoma"/>
              </a:rPr>
              <a:t>เสี่ยงต่ำ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34747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Tahoma"/>
                <a:ea typeface="Tahoma"/>
                <a:cs typeface="Tahoma"/>
              </a:rPr>
              <a:t>จองล่วงหน้า 5 วัน
Direct + ลูกค้าเก่า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ข้อจำกัดของระบบ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C7D2DE"/>
                </a:solidFill>
                <a:latin typeface="Tahoma"/>
                <a:ea typeface="Tahoma"/>
                <a:cs typeface="Tahoma"/>
              </a:rPr>
              <a:t>โมเดลบนเว็บเป็น Random Forest ฉบับย่อ 28.8 MB (F1 0.8376) แทนตัวเต็ม 356.8 MB เพราะข้อจำกัดด้านหน่วยความจำของบริการฟรี · ผลทำนายอิงข้อมูลโปรตุเกสปี 2015–2017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274320"/>
            <a:ext cx="10298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0298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สรุปผล ข้อจำกัด และงานต่อไป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373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7A5E"/>
                </a:solidFill>
                <a:latin typeface="Tahoma"/>
                <a:ea typeface="Tahoma"/>
                <a:cs typeface="Tahoma"/>
              </a:rPr>
              <a:t>ตอบโจทย์หรือไม่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ทำนายได้ F1 0.8469 บนชุดทดสอบ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สูงกว่า baseline (F1 = 0) อย่างชัดเจน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ระบุปัจจัยเสี่ยงหลักได้: มัดจำ · เอเจนต์ · ระยะจองล่วงหน้า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50876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1" y="17373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B33A3A"/>
                </a:solidFill>
                <a:latin typeface="Tahoma"/>
                <a:ea typeface="Tahoma"/>
                <a:cs typeface="Tahoma"/>
              </a:rPr>
              <a:t>ข้อจำกัด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1" y="2148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ข้อมูลจากโปรตุเกส ปี 2015–2017 เท่านั้น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ทดสอบตามเวลาได้ F1 ~0.72 ต่ำกว่าผลสุ่มแบ่ง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มีแถวซ้ำ 31,994 แถวที่เลือกไม่ลบ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8" y="150876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0" y="17373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2038"/>
                </a:solidFill>
                <a:latin typeface="Tahoma"/>
                <a:ea typeface="Tahoma"/>
                <a:cs typeface="Tahoma"/>
              </a:rPr>
              <a:t>งานต่อไป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0" y="2148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ใช้ time-based validation ตอน tuning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ตั้ง threshold ตามต้นทุนธุรกิจจริง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1F2C3D"/>
                </a:solidFill>
                <a:latin typeface="Tahoma"/>
                <a:ea typeface="Tahoma"/>
                <a:cs typeface="Tahoma"/>
              </a:rPr>
              <a:t>เพิ่ม SHAP อธิบายผลเป็นรายรายการ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สิ่งที่ได้เรียนรู้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C7D2DE"/>
                </a:solidFill>
                <a:latin typeface="Tahoma"/>
                <a:ea typeface="Tahoma"/>
                <a:cs typeface="Tahoma"/>
              </a:rPr>
              <a:t>ระวัง Data Leakage ตั้งแต่ก่อนแบ่งข้อมูล · เลือก metric ให้ตรงกับต้นทุนของปัญหา · ใช้ Pipeline ป้องกันข้อมูลรั่วระหว่าง Cross-Validation · ตัวเลขที่ดูดีเกินจริงมักมาจากวิธีประเมินที่ไม่ตรงกับการใช้งานจริง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ขอบคุณครับ / ค่ะ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โค้ดทั้งหมด (Colab / GitHub)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C7D2DE"/>
                </a:solidFill>
                <a:latin typeface="Tahoma"/>
                <a:ea typeface="Tahoma"/>
                <a:cs typeface="Tahoma"/>
              </a:rPr>
              <a:t>github.com/Hake2549/ML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920240"/>
            <a:ext cx="3931920" cy="3108960"/>
          </a:xfrm>
          <a:prstGeom prst="roundRect">
            <a:avLst>
              <a:gd name="adj" fmla="val 6000"/>
            </a:avLst>
          </a:prstGeom>
          <a:solidFill>
            <a:srgbClr val="182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1488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สไลด์สำรอง (เปิดเมื่อถูกถาม)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5603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RF Importance ก่อน–หลัง tune</a:t>
            </a:r>
            <a:r>
              <a:rPr sz="1200" b="0">
                <a:solidFill>
                  <a:srgbClr val="C7D2DE"/>
                </a:solidFill>
                <a:latin typeface="Tahoma"/>
                <a:ea typeface="Tahoma"/>
                <a:cs typeface="Tahoma"/>
              </a:rPr>
              <a:t> (Spearman 0.985)</a:t>
            </a:r>
          </a:p>
          <a:p>
            <a:pPr algn="l" marL="201168" indent="-201168"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Learning Curve</a:t>
            </a:r>
          </a:p>
          <a:p>
            <a:pPr algn="l" marL="201168" indent="-201168"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Error Analysis แยกตามกลุ่ม</a:t>
            </a:r>
          </a:p>
          <a:p>
            <a:pPr algn="l" marL="201168" indent="-201168"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ช่วงค่า Hyperparameter ที่ค้นหา</a:t>
            </a:r>
          </a:p>
          <a:p>
            <a:pPr algn="l" marL="201168" indent="-201168"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E0A458"/>
                </a:solidFill>
                <a:latin typeface="Tahoma"/>
                <a:ea typeface="Tahoma"/>
                <a:cs typeface="Tahoma"/>
              </a:rPr>
              <a:t>•  </a:t>
            </a:r>
            <a:r>
              <a:rPr sz="12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Correlation Heatmap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