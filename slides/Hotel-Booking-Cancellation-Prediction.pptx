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สวัสดีครับ/ค่ะ กลุ่มเรานำเสนอโครงงานทำนายการยกเลิกการจองโรงแรม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เน้นว่าเป็นปัญหาที่วัดมูลค่าทางธุรกิจได้ ไม่ใช่แค่โจทย์ในห้องเรียน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ปูทางไปหน้า 11 เรื่องการเลือก metric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พูดแค่ 2 จุดที่สะดุดตาที่สุด ไม่ต้องไล่ทุกกราฟ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ย้ำว่าเลือกวิธีจัดการจากความหมายของข้อมูล ไม่ได้เติมค่ามั่ว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หน้านี้คืออันที่อาจารย์ชอบถาม ให้เน้นหลักฐาน 0%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เน้นว่าทุก feature มีเหตุผลรองรับก่อนสร้าง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ถ้าโดนถามเรื่อง overfitting ให้เปิดสไลด์สำรองหน้าสุดท้าย (Spearman 0.985)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ถ้าโดนถามว่าทำไม C ไม่ดีกว่า B ให้ตอบเรื่อง std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ชี้ว่า Decision Tree overfit ชัดเจน ส่วน Random Forest แก้ด้วยการรวมหลายต้น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ผูก metric เข้ากับต้นทุนธุรกิจจริง ไม่ใช่เลือกเพราะเห็นคนอื่นใช้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อย่ากลัวที่จะบอกว่า F1 ไม่ขึ้น อธิบายด้วยช่องว่าง train-CV 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threshold 0.46 หามาจาก out-of-fold predictions บน train ไม่ได้แตะ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หน้านี้คือหน้าที่ทำให้งานดูลึกกว่ากลุ่มอื่น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ถ้าเน็ตในห้องใช้ได้ ให้เปิดเว็บจริงสาธิต 1 เคส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ปิดด้วยสิ่งที่ได้เรียนรู้ ไม่ใช่แค่ตัวเลข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เปิดสไลด์สำรองจากไฟล์แยกในโฟลเดอร์ outputs/figures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โครงงานรายวิชา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778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Hotel Booking
Cancellation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2900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C7D2DE"/>
                </a:solidFill>
                <a:latin typeface="Tahoma"/>
                <a:ea typeface="Tahoma"/>
                <a:cs typeface="Tahoma"/>
              </a:rPr>
              <a:t>ทำนายความเสี่ยงที่การจองโรงแรมจะถูกยกเลิก ด้วยข้อมูลการจองจริง 119,208 รายการ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  <a:ea typeface="Tahoma"/>
                <a:cs typeface="Tahoma"/>
              </a:rPr>
              <a:t>นายชัยพร ศรีพราย  66114540168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  <a:ea typeface="Tahoma"/>
                <a:cs typeface="Tahoma"/>
              </a:rPr>
              <a:t>นางสาวกวิณชฎา มีศรี  67114540015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  <a:ea typeface="Tahoma"/>
                <a:cs typeface="Tahoma"/>
              </a:rPr>
              <a:t>นายธนากร ไชยรัตน์  67114540244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48056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  <a:ea typeface="Tahoma"/>
                <a:cs typeface="Tahoma"/>
              </a:rPr>
              <a:t>นายรัชชานนท์ รื่นจิตต์  67114540446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E4EAF1"/>
                </a:solidFill>
                <a:latin typeface="Tahoma"/>
                <a:ea typeface="Tahoma"/>
                <a:cs typeface="Tahoma"/>
              </a:rPr>
              <a:t>นายราชภัฏ บุญรอด  67114540455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18320" y="1828800"/>
            <a:ext cx="2194560" cy="1371600"/>
          </a:xfrm>
          <a:prstGeom prst="roundRect">
            <a:avLst>
              <a:gd name="adj" fmla="val 6000"/>
            </a:avLst>
          </a:prstGeom>
          <a:solidFill>
            <a:srgbClr val="182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8048" y="1938528"/>
            <a:ext cx="1975104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8048" y="2852928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features ที่ใช้เทรน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20" y="3383280"/>
            <a:ext cx="2194560" cy="1371600"/>
          </a:xfrm>
          <a:prstGeom prst="roundRect">
            <a:avLst>
              <a:gd name="adj" fmla="val 6000"/>
            </a:avLst>
          </a:prstGeom>
          <a:solidFill>
            <a:srgbClr val="182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8048" y="3493008"/>
            <a:ext cx="1975104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0.847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4407408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F1-score บนชุดทดสอบ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ยกเลิก 37% คือรายได้ที่หายและพยากรณ์ห้องที่ผิดพลาด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ยกเลิกกระชั้นชิด → ขายห้องต่อไม่ทัน → รายได้หายทันที</a:t>
            </a:r>
          </a:p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โรงแรมต้องทำ Overbooking ชดเชย ซึ่งถ้าประเมินผิดจะเสียทั้งเงินและชื่อเสียง</a:t>
            </a:r>
          </a:p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5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Input =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ข้อมูลการจอง ณ วันที่จอง  →  </a:t>
            </a:r>
            <a:r>
              <a:rPr sz="15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Output =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ยกเลิก (1) / ไม่ยกเลิก (0)</a:t>
            </a:r>
          </a:p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ขอบเขต: โรงแรม 2 แห่งในโปรตุเกส ก.ค. 2015 – ส.ค. 2017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08760"/>
            <a:ext cx="3840480" cy="2286000"/>
          </a:xfrm>
          <a:prstGeom prst="roundRect">
            <a:avLst>
              <a:gd name="adj" fmla="val 6000"/>
            </a:avLst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828800"/>
            <a:ext cx="3840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37%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9718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ของการจองทั้งหมดถูกยกเลิก
(44,224 จาก 119,390 รายการ)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ปัญหานี้เป็น Binary Classification ที่มีมูลค่าทางธุรกิจวัดได้จริง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DATA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ทายว่า "ไม่ยกเลิก" ทุกรายการ ก็ได้ Accuracy 62.9% แล้ว</a:t>
            </a:r>
          </a:p>
        </p:txBody>
      </p:sp>
      <p:pic>
        <p:nvPicPr>
          <p:cNvPr id="6" name="Picture 5" descr="3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37414"/>
            <a:ext cx="4663440" cy="36746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6002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ข้อมูลดิบ 119,390 แถว × 32 คอลัมน์</a:t>
            </a:r>
          </a:p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ยกเลิก 44,224 รายการ : ไม่ยกเลิก 75,166 รายการ</a:t>
            </a:r>
          </a:p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5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สัดส่วนคลาสไม่สมดุล 37 : 63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00400"/>
            <a:ext cx="603504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ประโยคสำคัญ: 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“นี่คือเหตุผลที่เราไม่ใช้ Accuracy เป็นตัวชี้วัดหลัก </a:t>
            </a: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เพราะโมเดลที่ไม่ได้เรียนรู้อะไรเลยก็ทำคะแนนนี้ได้”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ประเภทมัดจำและช่องทางการจองต่างกันอย่างชัดเจน</a:t>
            </a:r>
          </a:p>
        </p:txBody>
      </p:sp>
      <p:pic>
        <p:nvPicPr>
          <p:cNvPr id="6" name="Picture 5" descr="3_eda_cancel_rate_by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596754"/>
            <a:ext cx="7680960" cy="43045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600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Non Refund </a:t>
            </a:r>
            <a:r>
              <a:rPr sz="14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ยกเลิกเกือบ 100% ทั้งที่จ่ายเงินไปแล้ว</a:t>
            </a:r>
          </a:p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Groups </a:t>
            </a:r>
            <a:r>
              <a:rPr sz="14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ยกเลิกสูงกว่าการจองแบบอื่นชัดเจน</a:t>
            </a:r>
          </a:p>
          <a:p>
            <a:pPr algn="l" marL="201168" indent="-201168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4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เส้นประแดง = อัตรายกเลิกเฉลี่ยทั้งชุดข้อมูล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722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ทุกกราฟคำนวณจากข้อมูลจริงทั้ง 119,390 แถว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DATA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ทำความสะอาดข้อมูลโดยเสียข้อมูลเพียง 0.15%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7315200" cy="566928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ปัญหาที่พบ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1627632"/>
            <a:ext cx="27066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วิธีจัดการ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93408" y="1627632"/>
            <a:ext cx="10607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แถวที่เสีย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94560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children ว่าง 4 ค่า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2194560"/>
            <a:ext cx="27066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เติมด้วย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2194560"/>
            <a:ext cx="10607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88336"/>
            <a:ext cx="7315200" cy="5669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country ว่าง 488 ค่า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7328" y="2761488"/>
            <a:ext cx="27066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แทนด้วย Unknown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761488"/>
            <a:ext cx="10607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28416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agent / company ว่าง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7328" y="3328416"/>
            <a:ext cx="27066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แปลงเป็น flag มี/ไม่มี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3328416"/>
            <a:ext cx="10607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22192"/>
            <a:ext cx="7315200" cy="5669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895344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ไม่มีผู้เข้าพัก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8" y="3895344"/>
            <a:ext cx="27066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ลบแถวทิ้ง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8" y="3895344"/>
            <a:ext cx="10607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462272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adr ติดลบ / เกิน 1,000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4462272"/>
            <a:ext cx="27066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ลบแถวทิ้ง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4462272"/>
            <a:ext cx="10607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1572768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8" y="1682496"/>
            <a:ext cx="3163824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119,390 → 119,208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2688336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จำนวนแถวก่อน → หลังคลีน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320040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9328" y="3310128"/>
            <a:ext cx="3163824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182 แถว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8" y="4315968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ลบทิ้งทั้งหมด คิดเป็น 0.15%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89204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อัตรายกเลิกหลังคลีน 37.08%
แทบไม่ต่างจาก 37.04% ก่อนคลีน
→ การลบแถวไม่ทำให้สัดส่วนคลาสบิดเบือน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3036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ค่าว่างใน agent / company ตามเปเปอร์ต้นฉบับแปลว่า “ไม่เกี่ยวข้อง” ไม่ใช่ข้อมูลหาย จึงทำเป็น flag แทนการเติมค่า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DATA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ตัด 3 คอลัมน์ที่แอบรู้คำตอบ ก่อนแบ่งข้อมูล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577840" cy="228600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คอลัมน์ที่ตัดออก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57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reservation_status — บอกผลลัพธ์ตรงๆ</a:t>
            </a:r>
          </a:p>
          <a:p>
            <a:pPr algn="l" marL="201168" indent="-201168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reservation_status_date — วันที่ผลลัพธ์เกิดขึ้น</a:t>
            </a:r>
          </a:p>
          <a:p>
            <a:pPr algn="l" marL="201168" indent="-201168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assigned_room_type — ห้องถูกกำหนดตอนเช็คอิน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หลักฐาน: </a:t>
            </a: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การจองที่ถูกเปลี่ยนห้องมีอัตรายกเลิก 0% → รู้ผลหลังเช็คอินแล้ว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แบ่งข้อมูล 2 แบบ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874519"/>
            <a:ext cx="5120640" cy="384048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1968" y="1947671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วิธีแบ่ง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8" y="1947671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1947671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2331719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Stratified Random 80/20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45168" y="2331719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95,366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3888" y="2331719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23,842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642615"/>
            <a:ext cx="5120640" cy="38404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1968" y="2715767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Time-based (ตามเวลา)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2715767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95,190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2715767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24,018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004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Time split: train มีอัตรายกเลิก 36.09% แต่ test มี 40.99%
→ พฤติกรรมเปลี่ยนตามเวลาจริง (ดูหน้า 14)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16052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encoding · scaling · feature selection ทั้งหมดอยู่ใน Pipeline จึงเรียนรู้จาก train ของแต่ละ fold เท่านั้น — Test set ถูกเปิดใช้ครั้งเดียวตอนท้าย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สร้าง 9 features ใหม่ — ทุกตัวมีสมมติฐานรองรับ</a:t>
            </a:r>
          </a:p>
        </p:txBody>
      </p:sp>
      <p:pic>
        <p:nvPicPr>
          <p:cNvPr id="6" name="Picture 5" descr="5_engineered_features_cancel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778" y="1417320"/>
            <a:ext cx="5867724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4630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ช่วงห่างของอัตรายกเลิกระหว่างกลุ่ม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828800"/>
            <a:ext cx="3931920" cy="384048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1901952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Feature 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33888" y="1901952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ช่วงห่าง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2212848"/>
            <a:ext cx="3931920" cy="384048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0688" y="2286000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cancel_history_ratio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2286000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81.6%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2596896"/>
            <a:ext cx="3931920" cy="38404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2670048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lead_time_group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2670048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58.1%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0688" y="3054096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total_nights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3054096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52.8%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0" y="3364992"/>
            <a:ext cx="3931920" cy="38404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3438144"/>
            <a:ext cx="25237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is_domestic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3438144"/>
            <a:ext cx="9692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33.1%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977639"/>
            <a:ext cx="3931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ยิ่งช่วงห่างกว้าง feature ยิ่งแยกกลุ่มคนที่จะยกเลิกออกจากคนที่ไม่ยกเลิกได้ดี
ตั้งสมมติฐานก่อน แล้วค่อยพิสูจน์ด้วยกราฟ ไม่ได้สร้างมั่วแล้วลองดู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FEATURE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37 features → 18 features ด้วยการโหวต 2 ใน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Mutual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Filter — สถิติล้วน</a:t>
            </a:r>
          </a:p>
        </p:txBody>
      </p:sp>
      <p:pic>
        <p:nvPicPr>
          <p:cNvPr id="8" name="Picture 7" descr="5_mutual_information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20915"/>
            <a:ext cx="3566160" cy="24161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07408" y="137160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RF Importance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1627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Embedded — จากตัวโมเดล</a:t>
            </a:r>
          </a:p>
        </p:txBody>
      </p:sp>
      <p:pic>
        <p:nvPicPr>
          <p:cNvPr id="11" name="Picture 10" descr="5_random_forest_importance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220915"/>
            <a:ext cx="3566160" cy="241617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66176" y="137160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Permutation Importance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6" y="1627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Model-agnostic — วัดบน validation</a:t>
            </a:r>
          </a:p>
        </p:txBody>
      </p:sp>
      <p:pic>
        <p:nvPicPr>
          <p:cNvPr id="14" name="Picture 13" descr="5_permutation_importance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6" y="2220915"/>
            <a:ext cx="3566160" cy="241617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" y="516636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276088"/>
            <a:ext cx="215798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14 ตัว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87044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ได้ครบ 3 โหวต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54680" y="516636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4408" y="5276088"/>
            <a:ext cx="215798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4 ตัว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587044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ได้ 2 โหวต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516636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0448" y="5276088"/>
            <a:ext cx="215798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18 ตัว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587044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เก็บไว้ใช้เทรน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212080"/>
            <a:ext cx="3429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RF Importance มีอคติเข้าข้างตัวแปรที่มีค่าหลากหลาย จึงใช้ Permutation Importance ที่วัดบน validation set เป็นตัวถ่วง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ก่อน – หลังคัดเลือก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ใช้ feature น้อยลงครึ่งหนึ่ง แต่ผลเท่าเดิมและเทรนเร็วขึ้น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766560" cy="420624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24168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ชุด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4690" y="1627632"/>
            <a:ext cx="747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จำนวน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341" y="1627632"/>
            <a:ext cx="171384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F1 (CV)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4643" y="1627632"/>
            <a:ext cx="10108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ROC-AUC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048256"/>
            <a:ext cx="24168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A: ตัวแปรเดิม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4690" y="2048256"/>
            <a:ext cx="747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341" y="2048256"/>
            <a:ext cx="171384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0.8416 ± 0.0037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4643" y="2048256"/>
            <a:ext cx="10108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0.9551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95728"/>
            <a:ext cx="6766560" cy="420624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68880"/>
            <a:ext cx="24168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B: เดิม + ที่สร้างใหม่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4690" y="2468880"/>
            <a:ext cx="747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1341" y="2468880"/>
            <a:ext cx="171384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0.8427 ± 0.0028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4643" y="2468880"/>
            <a:ext cx="10108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0.9554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816352"/>
            <a:ext cx="6766560" cy="420624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2889504"/>
            <a:ext cx="241686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C: คัดเลือกแล้ว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4690" y="2889504"/>
            <a:ext cx="747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341" y="2889504"/>
            <a:ext cx="171384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0.8421 ± 0.0036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4643" y="2889504"/>
            <a:ext cx="10108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0.9546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676656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703320"/>
            <a:ext cx="6217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ผลต่างระหว่าง B กับ C = 0.0006 </a:t>
            </a:r>
            <a:r>
              <a:rPr sz="14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ซึ่งน้อยกว่าค่า std (0.0028)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→ ไม่ต่างกันอย่างมีนัยสำคัญ แต่ C ใช้ feature ครึ่งเดียวและเทรนเร็วขึ้นเท่าตัว (8.7 vs 17.5 วินาที)</a:t>
            </a:r>
          </a:p>
        </p:txBody>
      </p:sp>
      <p:pic>
        <p:nvPicPr>
          <p:cNvPr id="27" name="Picture 26" descr="5_performance_vs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991360"/>
            <a:ext cx="4023360" cy="2235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589520" y="480060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กราฟตอบคำถาม “ทำไมเลือก K = 18” — เพิ่ม feature เกินจุดนี้แล้วคะแนนไม่ขึ้นอีก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MODEL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Random Forest นำตั้งแต่ก่อน Tuning (F1 = 0.842)</a:t>
            </a:r>
          </a:p>
        </p:txBody>
      </p:sp>
      <p:pic>
        <p:nvPicPr>
          <p:cNvPr id="6" name="Picture 5" descr="6_default_model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5303520" cy="2651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1554480"/>
            <a:ext cx="5486400" cy="384048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627632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โมเดล (ค่า 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6715" y="1627632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F1 (CV)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888" y="1627632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ช่องว่าง Train–CV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011680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Logistic 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6715" y="2011680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0.763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5888" y="2011680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0.001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5486400" cy="38404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95728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Decision Tree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6715" y="2395728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0.791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5888" y="2395728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0.203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06624"/>
            <a:ext cx="5486400" cy="384048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779776"/>
            <a:ext cx="22988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Random Forest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76715" y="2779776"/>
            <a:ext cx="103971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0.842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5888" y="2779776"/>
            <a:ext cx="148942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0.152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9768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4805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Decision Tree overfit ชัดเจน </a:t>
            </a: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— ช่องว่าง train–CV ถึง 0.203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Random Forest แก้ปัญหานี้ด้วยการรวมหลายต้นเข้าด้วยกัน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ทุกโมเดลใช้ Stratified 5-Fold Cross-Validation บน train set เดียวกัน และใช้ Pipeline ชุดเดียวกัน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Accuracy หลอกตา — ทายว่า "ไม่ยกเลิก" ทุกรายการก็ได้ 62.9%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False Negative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ทำนายว่าไม่ยกเลิก → แต่ยกเลิกจริง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ห้องว่าง ขายต่อไม่ทัน = รายได้หาย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08760"/>
            <a:ext cx="5303520" cy="137160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4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False Positive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ทำนายว่ายกเลิก → แต่ลูกค้ามาจริง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ถ้าเผื่อ Overbooking ไว้ = ห้องไม่พอ เสียชื่อเสียง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ทั้งสองแบบมีต้นทุนสูงพอกัน จึงเลือก F1-score เป็นตัวชี้วัดหลัก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767328"/>
            <a:ext cx="2432304" cy="1033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F1-score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910328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ตัวชี้วัดหลัก — สมดุล Precision กับ Recall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65760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3767328"/>
            <a:ext cx="2432304" cy="1033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ROC-AUC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4910328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ความสามารถแยกคลาสโดยไม่ขึ้นกับ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65760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6208" y="3767328"/>
            <a:ext cx="2432304" cy="1033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PR-AUC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4910328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เหมาะกับข้อมูลไม่สมดุลมากกว่า ROC-AUC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365760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3767328"/>
            <a:ext cx="2432304" cy="1033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Confusion
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4910328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เห็นจำนวน error แต่ละแบบจริง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7784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เกณฑ์ขั้นต่ำ: การทายว่า "ไม่ยกเลิก" ทุกรายการได้ Accuracy 62.9% แต่ F1 = 0 คือจับคนที่จะยกเลิกไม่ได้เลยแม้แต่รายเดียว โมเดลจึงต้องชนะเกณฑ์นี้ให้ได้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HYPERPARAMETER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Tuning ช่วยลด Overfitting มากกว่าจะเพิ่มคะแนน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583680" cy="420624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20937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โมเดล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552" y="1627632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F1 ก่อน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28144" y="1627632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F1 หลัง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4736" y="1627632"/>
            <a:ext cx="173785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ช่องว่าง Train–CV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048256"/>
            <a:ext cx="20937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Logistic 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552" y="2048256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0.7629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28144" y="2048256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0.7784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4736" y="2048256"/>
            <a:ext cx="173785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0.001 → 0.002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95728"/>
            <a:ext cx="6583680" cy="420624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68880"/>
            <a:ext cx="20937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Random Forest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552" y="2468880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0.8422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28144" y="2468880"/>
            <a:ext cx="9371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0.8419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4736" y="2468880"/>
            <a:ext cx="173785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0.152 → 0.122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6583680" cy="13258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520440"/>
            <a:ext cx="6035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F1 ของ Random Forest แทบไม่ขึ้นเลย </a:t>
            </a:r>
            <a:r>
              <a:rPr sz="14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แต่ช่องว่าง train–CV แคบลงจาก 0.152 เหลือ 0.122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→ โมเดลจำข้อมูลน้อยลงและมีเสถียรภาพมากขึ้น จึงถือว่า tuning ได้ผล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4632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ค่าที่เลือกใช้: 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n_estimators=300 · max_depth=30 · min_samples_leaf=2 · max_features=log2 · class_weight=balanced_subsample</a:t>
            </a:r>
          </a:p>
        </p:txBody>
      </p:sp>
      <p:pic>
        <p:nvPicPr>
          <p:cNvPr id="23" name="Picture 22" descr="7_validation_curve_rf_max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60077"/>
            <a:ext cx="4206240" cy="229776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06640" y="480060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Validation Curve: เส้น train พุ่งขึ้นแต่ validation นิ่ง = สัญญาณ overfitting ใช้เลือกค่า max_depth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ผลบนชุดทดสอบ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ปรับ threshold เป็น 0.46 เพิ่ม Recall ได้ 2.6 จุด</a:t>
            </a:r>
          </a:p>
        </p:txBody>
      </p:sp>
      <p:pic>
        <p:nvPicPr>
          <p:cNvPr id="6" name="Picture 5" descr="7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63699"/>
            <a:ext cx="4206240" cy="373060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20640" y="160020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30368" y="170992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0.8469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53288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F1-score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60020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4928" y="170992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0.8351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4928" y="253288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160020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19488" y="170992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0.8590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53288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Recall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01752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0368" y="312724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0.9567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395020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301752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4928" y="312724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0.9367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4928" y="395020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PR-AUC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3017520"/>
            <a:ext cx="2057400" cy="128016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9488" y="3127248"/>
            <a:ext cx="18379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0.8849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395020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Accuracy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0" y="4480560"/>
            <a:ext cx="6492240" cy="1234440"/>
          </a:xfrm>
          <a:prstGeom prst="roundRect">
            <a:avLst>
              <a:gd name="adj" fmla="val 6000"/>
            </a:avLst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49240" y="466344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Test set 23,842 แถว ถูกใช้เพียงครั้งเดียวตอนท้าย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C7D2DE"/>
                </a:solidFill>
                <a:latin typeface="Tahoma"/>
                <a:ea typeface="Tahoma"/>
                <a:cs typeface="Tahoma"/>
              </a:rPr>
              <a:t>การเลือก feature · เลือกโมเดล · tuning · หา threshold ทั้งหมดใช้ Cross-Validation บน train เท่านั้น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จุดค้นพบสำคัญ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ถ้าทดสอบแบบทำนายอนาคตจริง F1 ตกจาก 0.847 เหลือ 0.725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6949440" cy="457200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73352"/>
            <a:ext cx="30172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วิธีแบ่งข้อมูล (threshold 0.46)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95093" y="1673352"/>
            <a:ext cx="92291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37466" y="1673352"/>
            <a:ext cx="111331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235" y="1673352"/>
            <a:ext cx="10181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30552"/>
            <a:ext cx="30172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Random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95093" y="2130552"/>
            <a:ext cx="92291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0.8469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7466" y="2130552"/>
            <a:ext cx="111331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0.8351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235" y="2130552"/>
            <a:ext cx="10181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0.8590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14600"/>
            <a:ext cx="6949440" cy="457200"/>
          </a:xfrm>
          <a:prstGeom prst="rect">
            <a:avLst/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87752"/>
            <a:ext cx="30172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Time-based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093" y="2587752"/>
            <a:ext cx="92291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0.7249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7466" y="2587752"/>
            <a:ext cx="111331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0.7996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235" y="2587752"/>
            <a:ext cx="10181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0.6630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200400"/>
            <a:ext cx="6949440" cy="146304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401568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สาเหตุ: </a:t>
            </a: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ชุด test ที่แบ่งตามเวลามีอัตรายกเลิก 40.99% ขณะที่ train มี 36.09%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พฤติกรรมลูกค้าเปลี่ยนไปตามเวลาจริง (distribution shift)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1600200"/>
            <a:ext cx="3657600" cy="1737360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5007" y="1709928"/>
            <a:ext cx="3438144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−0.122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7" y="2990088"/>
            <a:ext cx="3438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F1 ที่หายไปเมื่อทดสอบตามเวลา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56616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“การสุ่มแบ่งข้อมูลประเมินโมเดลสูงเกินจริง เราจึงรายงานตัวเลขทั้งสองแบบ”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ในการใช้งานจริง โมเดลต้องทำนายอนาคตจากข้อมูลอดีต จึงควร retrain เป็นระยะ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กรอกข้อมูลการจอง → ได้ความเสี่ยงทันที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เว็บแอป Streamlit — ผู้ใช้กรอกรายละเอียดการจอง ระบบคำนวณ 18 features แล้วแสดงความน่าจะเป็นที่จะยกเลิก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เสี่ยงสูง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จองล่วงหน้า 300 วัน
Non Refund + Groups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1168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22402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33.3%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30632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เสี่ยงปานกลาง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4747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จองล่วงหน้า 60 วัน
Online 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8" y="201168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8" y="22402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1E7A5E"/>
                </a:solidFill>
                <a:latin typeface="Tahoma"/>
                <a:ea typeface="Tahoma"/>
                <a:cs typeface="Tahoma"/>
              </a:rPr>
              <a:t>0.6%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30632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E7A5E"/>
                </a:solidFill>
                <a:latin typeface="Tahoma"/>
                <a:ea typeface="Tahoma"/>
                <a:cs typeface="Tahoma"/>
              </a:rPr>
              <a:t>เสี่ยงต่ำ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8" y="34747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6B7A8C"/>
                </a:solidFill>
                <a:latin typeface="Tahoma"/>
                <a:ea typeface="Tahoma"/>
                <a:cs typeface="Tahoma"/>
              </a:rPr>
              <a:t>จองล่วงหน้า 5 วัน
Direct + ลูกค้าเก่า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6344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463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ข้อจำกัดของระบบ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C7D2DE"/>
                </a:solidFill>
                <a:latin typeface="Tahoma"/>
                <a:ea typeface="Tahoma"/>
                <a:cs typeface="Tahoma"/>
              </a:rPr>
              <a:t>โมเดลบนเว็บเป็น Random Forest ฉบับย่อ 28.8 MB (F1 0.8376) แทนตัวเต็ม 356.8 MB เพราะข้อจำกัดด้านหน่วยความจำของบริการฟรี · ผลทำนายอิงข้อมูลโปรตุเกสปี 2015–2017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" y="274320"/>
            <a:ext cx="10298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" y="621792"/>
            <a:ext cx="10298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สรุปผล ข้อจำกัด และงานต่อไป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7A5E"/>
                </a:solidFill>
                <a:latin typeface="Tahoma"/>
                <a:ea typeface="Tahoma"/>
                <a:cs typeface="Tahoma"/>
              </a:rPr>
              <a:t>ตอบโจทย์หรือไม่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ทำนายได้ F1 0.8469 บนชุดทดสอบ</a:t>
            </a:r>
          </a:p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สูงกว่า baseline (F1 = 0) อย่างชัดเจน</a:t>
            </a:r>
          </a:p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ระบุปัจจัยเสี่ยงหลักได้: มัดจำ · เอเจนต์ · ระยะจองล่วงหน้า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50876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1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B33A3A"/>
                </a:solidFill>
                <a:latin typeface="Tahoma"/>
                <a:ea typeface="Tahoma"/>
                <a:cs typeface="Tahoma"/>
              </a:rPr>
              <a:t>ข้อจำกัด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1" y="21488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ข้อมูลจากโปรตุเกส ปี 2015–2017 เท่านั้น</a:t>
            </a:r>
          </a:p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ทดสอบตามเวลาได้ F1 ~0.72 ต่ำกว่าผลสุ่มแบ่ง</a:t>
            </a:r>
          </a:p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มีแถวซ้ำ 31,994 แถวที่เลือกไม่ลบ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8" y="150876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0" y="17373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2038"/>
                </a:solidFill>
                <a:latin typeface="Tahoma"/>
                <a:ea typeface="Tahoma"/>
                <a:cs typeface="Tahoma"/>
              </a:rPr>
              <a:t>งานต่อไป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0" y="21488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ใช้ time-based validation ตอน tuning</a:t>
            </a:r>
          </a:p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ตั้ง threshold ตามต้นทุนธุรกิจจริง</a:t>
            </a:r>
          </a:p>
          <a:p>
            <a:pPr algn="l" marL="201168" indent="-201168"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1F2C3D"/>
                </a:solidFill>
                <a:latin typeface="Tahoma"/>
                <a:ea typeface="Tahoma"/>
                <a:cs typeface="Tahoma"/>
              </a:rPr>
              <a:t>เพิ่ม SHAP อธิบายผลเป็นรายรายการ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สิ่งที่ได้เรียนรู้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C7D2DE"/>
                </a:solidFill>
                <a:latin typeface="Tahoma"/>
                <a:ea typeface="Tahoma"/>
                <a:cs typeface="Tahoma"/>
              </a:rPr>
              <a:t>ระวัง Data Leakage ตั้งแต่ก่อนแบ่งข้อมูล · เลือก metric ให้ตรงกับต้นทุนของปัญหา · ใช้ Pipeline ป้องกันข้อมูลรั่วระหว่าง Cross-Validation · ตัวเลขที่ดูดีเกินจริงมักมาจากวิธีประเมินที่ไม่ตรงกับการใช้งานจริง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0312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ขอบคุณครับ / ค่ะ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10896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โค้ดทั้งหมด (Colab / GitHub)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C7D2DE"/>
                </a:solidFill>
                <a:latin typeface="Tahoma"/>
                <a:ea typeface="Tahoma"/>
                <a:cs typeface="Tahoma"/>
              </a:rPr>
              <a:t>github.com/Hake2549/ML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920240"/>
            <a:ext cx="3931920" cy="3108960"/>
          </a:xfrm>
          <a:prstGeom prst="roundRect">
            <a:avLst>
              <a:gd name="adj" fmla="val 6000"/>
            </a:avLst>
          </a:prstGeom>
          <a:solidFill>
            <a:srgbClr val="182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21488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สไลด์สำรอง (เปิดเมื่อถูกถาม)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5603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RF Importance ก่อน–หลัง tune</a:t>
            </a:r>
            <a:r>
              <a:rPr sz="1200" b="0">
                <a:solidFill>
                  <a:srgbClr val="C7D2DE"/>
                </a:solidFill>
                <a:latin typeface="Tahoma"/>
                <a:ea typeface="Tahoma"/>
                <a:cs typeface="Tahoma"/>
              </a:rPr>
              <a:t> (Spearman 0.985)</a:t>
            </a:r>
          </a:p>
          <a:p>
            <a:pPr algn="l" marL="201168" indent="-201168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Learning Curve</a:t>
            </a:r>
          </a:p>
          <a:p>
            <a:pPr algn="l" marL="201168" indent="-201168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Error Analysis แยกตามกลุ่ม</a:t>
            </a:r>
          </a:p>
          <a:p>
            <a:pPr algn="l" marL="201168" indent="-201168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ช่วงค่า Hyperparameter ที่ค้นหา</a:t>
            </a:r>
          </a:p>
          <a:p>
            <a:pPr algn="l" marL="201168" indent="-201168"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E0A458"/>
                </a:solidFill>
                <a:latin typeface="Tahoma"/>
                <a:ea typeface="Tahoma"/>
                <a:cs typeface="Tahoma"/>
              </a:rPr>
              <a:t>•  </a:t>
            </a:r>
            <a:r>
              <a:rPr sz="12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Correlation Heatmap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